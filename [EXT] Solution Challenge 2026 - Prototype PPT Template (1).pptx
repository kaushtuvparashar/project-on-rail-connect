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71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embeddedFontLst>
    <p:embeddedFont>
      <p:font typeface="Google Sans" panose="020B060402020202020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3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2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>
          <a:extLst>
            <a:ext uri="{FF2B5EF4-FFF2-40B4-BE49-F238E27FC236}">
              <a16:creationId xmlns:a16="http://schemas.microsoft.com/office/drawing/2014/main" id="{6EC115C7-F35C-F8A9-211D-56CE10864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>
            <a:extLst>
              <a:ext uri="{FF2B5EF4-FFF2-40B4-BE49-F238E27FC236}">
                <a16:creationId xmlns:a16="http://schemas.microsoft.com/office/drawing/2014/main" id="{4C19BFF0-48A4-95CA-4417-B1484EA462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>
            <a:extLst>
              <a:ext uri="{FF2B5EF4-FFF2-40B4-BE49-F238E27FC236}">
                <a16:creationId xmlns:a16="http://schemas.microsoft.com/office/drawing/2014/main" id="{EEE938DC-5954-5F6D-A82A-492B04C47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4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AI </a:t>
            </a:r>
            <a:r>
              <a:rPr lang="en-GB" sz="1800" b="1" dirty="0" err="1">
                <a:latin typeface="Google Sans"/>
                <a:ea typeface="Google Sans"/>
                <a:cs typeface="Google Sans"/>
                <a:sym typeface="Google Sans"/>
              </a:rPr>
              <a:t>Autolyte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r>
              <a:rPr lang="en-GB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kaushtuv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r>
              <a:rPr lang="en-GB" sz="1800" b="1" i="0" u="none" strike="noStrike" cap="none" dirty="0" err="1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parashar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service Fragmentation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B8BA0-1D12-EDBA-1615-A0A8F5819C99}"/>
              </a:ext>
            </a:extLst>
          </p:cNvPr>
          <p:cNvSpPr txBox="1"/>
          <p:nvPr/>
        </p:nvSpPr>
        <p:spPr>
          <a:xfrm>
            <a:off x="85526" y="1447936"/>
            <a:ext cx="68515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Our solution is a </a:t>
            </a:r>
            <a:r>
              <a:rPr lang="en-US" b="1" dirty="0"/>
              <a:t>smart railway management and passenger experience platform</a:t>
            </a:r>
            <a:r>
              <a:rPr lang="en-US" dirty="0"/>
              <a:t> that combines: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Real-time train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Digital ticket booking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Seat selection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Onboard services (food, cleaning, SOS)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Intelligent dashboard </a:t>
            </a:r>
          </a:p>
          <a:p>
            <a:pPr>
              <a:buNone/>
            </a:pPr>
            <a:r>
              <a:rPr lang="en-US" dirty="0"/>
              <a:t>It provides a </a:t>
            </a:r>
            <a:r>
              <a:rPr lang="en-US" b="1" dirty="0"/>
              <a:t>single unified platform</a:t>
            </a:r>
            <a:r>
              <a:rPr lang="en-US" dirty="0"/>
              <a:t> for passengers to manage their entire journey—from booking to arrival—through a modern web application.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59C110-2420-4DC8-9982-5FDD5EDF73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7669" b="73399"/>
          <a:stretch>
            <a:fillRect/>
          </a:stretch>
        </p:blipFill>
        <p:spPr>
          <a:xfrm>
            <a:off x="6937066" y="1189408"/>
            <a:ext cx="2121408" cy="38501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Growing demand for </a:t>
            </a:r>
            <a:r>
              <a:rPr lang="en-US" sz="1800" b="1" dirty="0"/>
              <a:t>digital railway services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Lack of </a:t>
            </a:r>
            <a:r>
              <a:rPr lang="en-US" sz="1800" b="1" dirty="0"/>
              <a:t>real-time transparency</a:t>
            </a:r>
            <a:r>
              <a:rPr lang="en-US" sz="1800" dirty="0"/>
              <a:t> in train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Need for </a:t>
            </a:r>
            <a:r>
              <a:rPr lang="en-US" sz="1800" b="1" dirty="0"/>
              <a:t>better passenger experience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Scope for </a:t>
            </a:r>
            <a:r>
              <a:rPr lang="en-US" sz="1800" b="1" dirty="0"/>
              <a:t>AI-based recommendations</a:t>
            </a:r>
            <a:r>
              <a:rPr lang="en-US" sz="18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Integration with </a:t>
            </a:r>
            <a:r>
              <a:rPr lang="en-US" sz="1800" b="1" dirty="0"/>
              <a:t>smart transportation systems</a:t>
            </a:r>
            <a:r>
              <a:rPr lang="en-US" sz="180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243897-C868-B820-33E8-31A0B1B824E2}"/>
              </a:ext>
            </a:extLst>
          </p:cNvPr>
          <p:cNvSpPr txBox="1"/>
          <p:nvPr/>
        </p:nvSpPr>
        <p:spPr>
          <a:xfrm>
            <a:off x="183250" y="3348991"/>
            <a:ext cx="37947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USP of the proposed solution</a:t>
            </a:r>
            <a:endParaRPr lang="en-IN" sz="1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BBB92-B0F2-4FEF-C46B-AD2A9809775F}"/>
              </a:ext>
            </a:extLst>
          </p:cNvPr>
          <p:cNvSpPr txBox="1"/>
          <p:nvPr/>
        </p:nvSpPr>
        <p:spPr>
          <a:xfrm>
            <a:off x="183250" y="3850065"/>
            <a:ext cx="478499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R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eal-time interactive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Smart user experience (UX-first design)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Live tracking + service integration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Modern, scalable architecture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All-in-one railway ecosyst</a:t>
            </a:r>
            <a:r>
              <a:rPr lang="en-US" altLang="en-US" sz="1400" dirty="0">
                <a:solidFill>
                  <a:schemeClr val="tx1"/>
                </a:solidFill>
                <a:latin typeface="Arial" panose="020B0604020202020204" pitchFamily="34" charset="0"/>
              </a:rPr>
              <a:t>em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>
          <a:extLst>
            <a:ext uri="{FF2B5EF4-FFF2-40B4-BE49-F238E27FC236}">
              <a16:creationId xmlns:a16="http://schemas.microsoft.com/office/drawing/2014/main" id="{CEBCD989-E413-7F8D-7898-209EA32BF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>
            <a:extLst>
              <a:ext uri="{FF2B5EF4-FFF2-40B4-BE49-F238E27FC236}">
                <a16:creationId xmlns:a16="http://schemas.microsoft.com/office/drawing/2014/main" id="{2461799E-E6F7-2982-5DBA-07B6CB3E5083}"/>
              </a:ext>
            </a:extLst>
          </p:cNvPr>
          <p:cNvSpPr txBox="1"/>
          <p:nvPr/>
        </p:nvSpPr>
        <p:spPr>
          <a:xfrm>
            <a:off x="114498" y="516471"/>
            <a:ext cx="8784300" cy="2055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b.   H</a:t>
            </a: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ow will it be able to solve the problem?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r>
              <a:rPr lang="en-IN" dirty="0"/>
              <a:t>                       ❌ Confusing booking systems → ✅ Simple UI flow </a:t>
            </a:r>
          </a:p>
          <a:p>
            <a:r>
              <a:rPr lang="en-IN" dirty="0"/>
              <a:t>                       ❌ No real-time clarity → ✅ Live tracking + updates </a:t>
            </a:r>
          </a:p>
          <a:p>
            <a:r>
              <a:rPr lang="en-IN" dirty="0"/>
              <a:t>                       ❌ Multiple apps needed → ✅ All-in-one platform </a:t>
            </a:r>
          </a:p>
          <a:p>
            <a:r>
              <a:rPr lang="en-IN" dirty="0"/>
              <a:t>                        ❌ Poor passenger support → ✅ Integrated services </a:t>
            </a: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endParaRPr lang="en-GB"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571500" marR="0" lvl="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</a:pP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>
            <a:extLst>
              <a:ext uri="{FF2B5EF4-FFF2-40B4-BE49-F238E27FC236}">
                <a16:creationId xmlns:a16="http://schemas.microsoft.com/office/drawing/2014/main" id="{42B6048D-0E46-DA9D-1A87-B8CB067ECF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64651F-743F-83F6-4DE0-B704CC4FC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351486"/>
              </p:ext>
            </p:extLst>
          </p:nvPr>
        </p:nvGraphicFramePr>
        <p:xfrm>
          <a:off x="921274" y="1021069"/>
          <a:ext cx="7342702" cy="2327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351">
                  <a:extLst>
                    <a:ext uri="{9D8B030D-6E8A-4147-A177-3AD203B41FA5}">
                      <a16:colId xmlns:a16="http://schemas.microsoft.com/office/drawing/2014/main" val="1992401242"/>
                    </a:ext>
                  </a:extLst>
                </a:gridCol>
                <a:gridCol w="3671351">
                  <a:extLst>
                    <a:ext uri="{9D8B030D-6E8A-4147-A177-3AD203B41FA5}">
                      <a16:colId xmlns:a16="http://schemas.microsoft.com/office/drawing/2014/main" val="1131465209"/>
                    </a:ext>
                  </a:extLst>
                </a:gridCol>
              </a:tblGrid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Existing Systems (IRCTC, NTES)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our 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335861"/>
                  </a:ext>
                </a:extLst>
              </a:tr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Fragmented experience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Unified platform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649555"/>
                  </a:ext>
                </a:extLst>
              </a:tr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Basic UI/UX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Modern dashboard UI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0753406"/>
                  </a:ext>
                </a:extLst>
              </a:tr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 real-time visuals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Live tracking + speed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073574"/>
                  </a:ext>
                </a:extLst>
              </a:tr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 service integration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Food, cleaning, SOS in one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8319817"/>
                  </a:ext>
                </a:extLst>
              </a:tr>
              <a:tr h="387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Complex booking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Simplified, user-friendly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4074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5904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5400A0-40B0-B847-0D4B-56B382ADA040}"/>
              </a:ext>
            </a:extLst>
          </p:cNvPr>
          <p:cNvSpPr txBox="1"/>
          <p:nvPr/>
        </p:nvSpPr>
        <p:spPr>
          <a:xfrm>
            <a:off x="411480" y="1187325"/>
            <a:ext cx="58978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Core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Train search &amp; booking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Seat selection (interactive)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Passenger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Payment integration </a:t>
            </a:r>
          </a:p>
          <a:p>
            <a:pPr>
              <a:buNone/>
            </a:pPr>
            <a:r>
              <a:rPr lang="en-US" sz="1600" b="1" dirty="0"/>
              <a:t>Advanced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Live train tracking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Speed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Journey timeline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Platform &amp; station info </a:t>
            </a:r>
          </a:p>
          <a:p>
            <a:pPr>
              <a:buNone/>
            </a:pPr>
            <a:r>
              <a:rPr lang="en-US" sz="1600" b="1" dirty="0"/>
              <a:t>Services: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Food ordering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Cleaning request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Emergency SOS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D38E202-8A25-F4EE-CF51-2FEAD75AD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12" y="1343775"/>
            <a:ext cx="8422105" cy="36201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104572" y="51526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81943-6225-4F9A-81DC-375A6472D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641" y="866274"/>
            <a:ext cx="8305227" cy="427722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7A85BE-9711-207A-8069-38C2579FA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049" y="1175656"/>
            <a:ext cx="8820899" cy="39678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098C740-1301-4915-11B1-98E747E9E33A}"/>
              </a:ext>
            </a:extLst>
          </p:cNvPr>
          <p:cNvSpPr txBox="1"/>
          <p:nvPr/>
        </p:nvSpPr>
        <p:spPr>
          <a:xfrm>
            <a:off x="419386" y="1447936"/>
            <a:ext cx="64386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Frontend: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React.js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Tailwind 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JavaScript </a:t>
            </a:r>
          </a:p>
          <a:p>
            <a:pPr>
              <a:buNone/>
            </a:pPr>
            <a:r>
              <a:rPr lang="en-IN" b="1" dirty="0"/>
              <a:t>Backend (optional):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Node.js / Express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Firebase </a:t>
            </a:r>
          </a:p>
          <a:p>
            <a:pPr>
              <a:buNone/>
            </a:pPr>
            <a:r>
              <a:rPr lang="en-IN" b="1" dirty="0"/>
              <a:t>APIs: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Google Maps API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Payment Gateway API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FF8B1C-7AAA-072E-D3B8-D78358B87B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491765"/>
              </p:ext>
            </p:extLst>
          </p:nvPr>
        </p:nvGraphicFramePr>
        <p:xfrm>
          <a:off x="378135" y="1453949"/>
          <a:ext cx="6895814" cy="2664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543">
                  <a:extLst>
                    <a:ext uri="{9D8B030D-6E8A-4147-A177-3AD203B41FA5}">
                      <a16:colId xmlns:a16="http://schemas.microsoft.com/office/drawing/2014/main" val="342581285"/>
                    </a:ext>
                  </a:extLst>
                </a:gridCol>
                <a:gridCol w="4529271">
                  <a:extLst>
                    <a:ext uri="{9D8B030D-6E8A-4147-A177-3AD203B41FA5}">
                      <a16:colId xmlns:a16="http://schemas.microsoft.com/office/drawing/2014/main" val="1919545650"/>
                    </a:ext>
                  </a:extLst>
                </a:gridCol>
              </a:tblGrid>
              <a:tr h="42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8268022"/>
                  </a:ext>
                </a:extLst>
              </a:tr>
              <a:tr h="42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Development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₹50,000 – ₹1,50,000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7925678"/>
                  </a:ext>
                </a:extLst>
              </a:tr>
              <a:tr h="42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APIs (Maps, etc.)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₹5,000 – ₹20,000/month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758484"/>
                  </a:ext>
                </a:extLst>
              </a:tr>
              <a:tr h="4202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₹2,000/month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203017"/>
                  </a:ext>
                </a:extLst>
              </a:tr>
              <a:tr h="5629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Maintenance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₹10,000/month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685712"/>
                  </a:ext>
                </a:extLst>
              </a:tr>
              <a:tr h="42026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72742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B67225-E64B-AC4B-2E10-F325231F6A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972" y="496455"/>
            <a:ext cx="4943260" cy="455415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8B3964-FC88-E643-B086-0BB052643636}"/>
              </a:ext>
            </a:extLst>
          </p:cNvPr>
          <p:cNvSpPr txBox="1"/>
          <p:nvPr/>
        </p:nvSpPr>
        <p:spPr>
          <a:xfrm>
            <a:off x="467460" y="1478200"/>
            <a:ext cx="4572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AI-based train recommendations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Real-time GPS integration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Mobile app (Android/iOS)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E-ticket generation (PDF)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Predictive delay system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Multi-language support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575</Words>
  <Application>Microsoft Office PowerPoint</Application>
  <PresentationFormat>On-screen Show (16:9)</PresentationFormat>
  <Paragraphs>117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Google Sans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hp victus</cp:lastModifiedBy>
  <cp:revision>1</cp:revision>
  <dcterms:modified xsi:type="dcterms:W3CDTF">2026-04-28T15:35:13Z</dcterms:modified>
</cp:coreProperties>
</file>